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1"/>
  </p:sldMasterIdLst>
  <p:sldIdLst>
    <p:sldId id="256" r:id="rId2"/>
    <p:sldId id="257" r:id="rId3"/>
    <p:sldId id="258" r:id="rId4"/>
    <p:sldId id="260" r:id="rId5"/>
    <p:sldId id="261" r:id="rId6"/>
    <p:sldId id="266" r:id="rId7"/>
    <p:sldId id="267" r:id="rId8"/>
    <p:sldId id="263" r:id="rId9"/>
    <p:sldId id="262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547E51-91A3-4012-B864-60232FE38047}" v="39" dt="2021-10-05T19:40:30.5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26" autoAdjust="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lal Kudaimi" userId="1030cc04129715cd" providerId="LiveId" clId="{6C547E51-91A3-4012-B864-60232FE38047}"/>
    <pc:docChg chg="undo custSel modSld">
      <pc:chgData name="Bilal Kudaimi" userId="1030cc04129715cd" providerId="LiveId" clId="{6C547E51-91A3-4012-B864-60232FE38047}" dt="2021-10-05T19:40:30.557" v="985" actId="20577"/>
      <pc:docMkLst>
        <pc:docMk/>
      </pc:docMkLst>
      <pc:sldChg chg="modSp">
        <pc:chgData name="Bilal Kudaimi" userId="1030cc04129715cd" providerId="LiveId" clId="{6C547E51-91A3-4012-B864-60232FE38047}" dt="2021-10-05T19:40:30.557" v="985" actId="20577"/>
        <pc:sldMkLst>
          <pc:docMk/>
          <pc:sldMk cId="3947335118" sldId="256"/>
        </pc:sldMkLst>
        <pc:spChg chg="mod">
          <ac:chgData name="Bilal Kudaimi" userId="1030cc04129715cd" providerId="LiveId" clId="{6C547E51-91A3-4012-B864-60232FE38047}" dt="2021-10-05T19:40:30.557" v="985" actId="20577"/>
          <ac:spMkLst>
            <pc:docMk/>
            <pc:sldMk cId="3947335118" sldId="256"/>
            <ac:spMk id="2" creationId="{C48982CE-528F-48F5-8179-3763FD655DCB}"/>
          </ac:spMkLst>
        </pc:spChg>
      </pc:sldChg>
      <pc:sldChg chg="addSp delSp modSp mod">
        <pc:chgData name="Bilal Kudaimi" userId="1030cc04129715cd" providerId="LiveId" clId="{6C547E51-91A3-4012-B864-60232FE38047}" dt="2021-10-04T22:59:33.275" v="771" actId="207"/>
        <pc:sldMkLst>
          <pc:docMk/>
          <pc:sldMk cId="4169874956" sldId="257"/>
        </pc:sldMkLst>
        <pc:spChg chg="mod">
          <ac:chgData name="Bilal Kudaimi" userId="1030cc04129715cd" providerId="LiveId" clId="{6C547E51-91A3-4012-B864-60232FE38047}" dt="2021-10-04T22:54:41.613" v="410" actId="20577"/>
          <ac:spMkLst>
            <pc:docMk/>
            <pc:sldMk cId="4169874956" sldId="257"/>
            <ac:spMk id="6" creationId="{7616C53A-538C-425D-B7F0-1210F3AD642E}"/>
          </ac:spMkLst>
        </pc:spChg>
        <pc:graphicFrameChg chg="add mod">
          <ac:chgData name="Bilal Kudaimi" userId="1030cc04129715cd" providerId="LiveId" clId="{6C547E51-91A3-4012-B864-60232FE38047}" dt="2021-10-04T22:59:33.275" v="771" actId="207"/>
          <ac:graphicFrameMkLst>
            <pc:docMk/>
            <pc:sldMk cId="4169874956" sldId="257"/>
            <ac:graphicFrameMk id="7" creationId="{58F91B6B-9588-4337-8E76-0C61389E0925}"/>
          </ac:graphicFrameMkLst>
        </pc:graphicFrameChg>
        <pc:graphicFrameChg chg="del">
          <ac:chgData name="Bilal Kudaimi" userId="1030cc04129715cd" providerId="LiveId" clId="{6C547E51-91A3-4012-B864-60232FE38047}" dt="2021-10-04T22:53:29.070" v="246" actId="21"/>
          <ac:graphicFrameMkLst>
            <pc:docMk/>
            <pc:sldMk cId="4169874956" sldId="257"/>
            <ac:graphicFrameMk id="8" creationId="{58F91B6B-9588-4337-8E76-0C61389E0925}"/>
          </ac:graphicFrameMkLst>
        </pc:graphicFrameChg>
      </pc:sldChg>
      <pc:sldChg chg="addSp delSp modSp mod">
        <pc:chgData name="Bilal Kudaimi" userId="1030cc04129715cd" providerId="LiveId" clId="{6C547E51-91A3-4012-B864-60232FE38047}" dt="2021-10-04T23:45:52.673" v="925" actId="20577"/>
        <pc:sldMkLst>
          <pc:docMk/>
          <pc:sldMk cId="3824292583" sldId="258"/>
        </pc:sldMkLst>
        <pc:spChg chg="mod">
          <ac:chgData name="Bilal Kudaimi" userId="1030cc04129715cd" providerId="LiveId" clId="{6C547E51-91A3-4012-B864-60232FE38047}" dt="2021-10-04T22:56:28.783" v="664" actId="20577"/>
          <ac:spMkLst>
            <pc:docMk/>
            <pc:sldMk cId="3824292583" sldId="258"/>
            <ac:spMk id="2" creationId="{2EF9AA8E-83FD-402A-BFDF-6C288C65B40A}"/>
          </ac:spMkLst>
        </pc:spChg>
        <pc:spChg chg="mod">
          <ac:chgData name="Bilal Kudaimi" userId="1030cc04129715cd" providerId="LiveId" clId="{6C547E51-91A3-4012-B864-60232FE38047}" dt="2021-10-04T23:45:52.673" v="925" actId="20577"/>
          <ac:spMkLst>
            <pc:docMk/>
            <pc:sldMk cId="3824292583" sldId="258"/>
            <ac:spMk id="3" creationId="{9B979068-959F-4EF3-90F5-EB47A776E40E}"/>
          </ac:spMkLst>
        </pc:spChg>
        <pc:graphicFrameChg chg="add mod">
          <ac:chgData name="Bilal Kudaimi" userId="1030cc04129715cd" providerId="LiveId" clId="{6C547E51-91A3-4012-B864-60232FE38047}" dt="2021-10-04T22:55:58.417" v="617" actId="14100"/>
          <ac:graphicFrameMkLst>
            <pc:docMk/>
            <pc:sldMk cId="3824292583" sldId="258"/>
            <ac:graphicFrameMk id="6" creationId="{108F069F-0994-4E45-9A15-E234FD832B8C}"/>
          </ac:graphicFrameMkLst>
        </pc:graphicFrameChg>
        <pc:graphicFrameChg chg="del">
          <ac:chgData name="Bilal Kudaimi" userId="1030cc04129715cd" providerId="LiveId" clId="{6C547E51-91A3-4012-B864-60232FE38047}" dt="2021-10-04T22:50:09.312" v="191" actId="21"/>
          <ac:graphicFrameMkLst>
            <pc:docMk/>
            <pc:sldMk cId="3824292583" sldId="258"/>
            <ac:graphicFrameMk id="7" creationId="{108F069F-0994-4E45-9A15-E234FD832B8C}"/>
          </ac:graphicFrameMkLst>
        </pc:graphicFrameChg>
      </pc:sldChg>
      <pc:sldChg chg="addSp delSp modSp mod">
        <pc:chgData name="Bilal Kudaimi" userId="1030cc04129715cd" providerId="LiveId" clId="{6C547E51-91A3-4012-B864-60232FE38047}" dt="2021-10-04T22:59:53.697" v="773" actId="207"/>
        <pc:sldMkLst>
          <pc:docMk/>
          <pc:sldMk cId="2740663649" sldId="260"/>
        </pc:sldMkLst>
        <pc:spChg chg="add del mod">
          <ac:chgData name="Bilal Kudaimi" userId="1030cc04129715cd" providerId="LiveId" clId="{6C547E51-91A3-4012-B864-60232FE38047}" dt="2021-10-04T22:54:06.706" v="318" actId="20577"/>
          <ac:spMkLst>
            <pc:docMk/>
            <pc:sldMk cId="2740663649" sldId="260"/>
            <ac:spMk id="3" creationId="{7E158A88-D602-4057-9A47-FA2989B314A9}"/>
          </ac:spMkLst>
        </pc:spChg>
        <pc:spChg chg="add del mod">
          <ac:chgData name="Bilal Kudaimi" userId="1030cc04129715cd" providerId="LiveId" clId="{6C547E51-91A3-4012-B864-60232FE38047}" dt="2021-10-04T22:48:37.238" v="186" actId="21"/>
          <ac:spMkLst>
            <pc:docMk/>
            <pc:sldMk cId="2740663649" sldId="260"/>
            <ac:spMk id="5" creationId="{4330BA5A-AF2A-4F74-A103-83B8CAB03404}"/>
          </ac:spMkLst>
        </pc:spChg>
        <pc:graphicFrameChg chg="del">
          <ac:chgData name="Bilal Kudaimi" userId="1030cc04129715cd" providerId="LiveId" clId="{6C547E51-91A3-4012-B864-60232FE38047}" dt="2021-10-04T22:48:40.243" v="187" actId="21"/>
          <ac:graphicFrameMkLst>
            <pc:docMk/>
            <pc:sldMk cId="2740663649" sldId="260"/>
            <ac:graphicFrameMk id="7" creationId="{59D30AA6-76D6-4CC9-8AFA-5BD288762390}"/>
          </ac:graphicFrameMkLst>
        </pc:graphicFrameChg>
        <pc:graphicFrameChg chg="add mod">
          <ac:chgData name="Bilal Kudaimi" userId="1030cc04129715cd" providerId="LiveId" clId="{6C547E51-91A3-4012-B864-60232FE38047}" dt="2021-10-04T22:59:53.697" v="773" actId="207"/>
          <ac:graphicFrameMkLst>
            <pc:docMk/>
            <pc:sldMk cId="2740663649" sldId="260"/>
            <ac:graphicFrameMk id="8" creationId="{59D30AA6-76D6-4CC9-8AFA-5BD288762390}"/>
          </ac:graphicFrameMkLst>
        </pc:graphicFrameChg>
      </pc:sldChg>
      <pc:sldChg chg="modSp mod">
        <pc:chgData name="Bilal Kudaimi" userId="1030cc04129715cd" providerId="LiveId" clId="{6C547E51-91A3-4012-B864-60232FE38047}" dt="2021-10-04T23:02:01.726" v="874" actId="20577"/>
        <pc:sldMkLst>
          <pc:docMk/>
          <pc:sldMk cId="883783733" sldId="261"/>
        </pc:sldMkLst>
        <pc:spChg chg="mod">
          <ac:chgData name="Bilal Kudaimi" userId="1030cc04129715cd" providerId="LiveId" clId="{6C547E51-91A3-4012-B864-60232FE38047}" dt="2021-10-04T23:02:01.726" v="874" actId="20577"/>
          <ac:spMkLst>
            <pc:docMk/>
            <pc:sldMk cId="883783733" sldId="261"/>
            <ac:spMk id="3" creationId="{4516BFB1-1A5E-4370-98F4-5555368428C5}"/>
          </ac:spMkLst>
        </pc:spChg>
      </pc:sldChg>
      <pc:sldChg chg="modSp mod">
        <pc:chgData name="Bilal Kudaimi" userId="1030cc04129715cd" providerId="LiveId" clId="{6C547E51-91A3-4012-B864-60232FE38047}" dt="2021-10-05T00:49:34.904" v="974" actId="20577"/>
        <pc:sldMkLst>
          <pc:docMk/>
          <pc:sldMk cId="3673109469" sldId="264"/>
        </pc:sldMkLst>
        <pc:spChg chg="mod">
          <ac:chgData name="Bilal Kudaimi" userId="1030cc04129715cd" providerId="LiveId" clId="{6C547E51-91A3-4012-B864-60232FE38047}" dt="2021-10-05T00:49:34.904" v="974" actId="20577"/>
          <ac:spMkLst>
            <pc:docMk/>
            <pc:sldMk cId="3673109469" sldId="264"/>
            <ac:spMk id="4" creationId="{E0704593-91F9-4ECB-B884-94409D8C2044}"/>
          </ac:spMkLst>
        </pc:spChg>
      </pc:sldChg>
      <pc:sldChg chg="modSp mod">
        <pc:chgData name="Bilal Kudaimi" userId="1030cc04129715cd" providerId="LiveId" clId="{6C547E51-91A3-4012-B864-60232FE38047}" dt="2021-10-05T00:03:08.857" v="931" actId="20577"/>
        <pc:sldMkLst>
          <pc:docMk/>
          <pc:sldMk cId="2000565913" sldId="266"/>
        </pc:sldMkLst>
        <pc:spChg chg="mod">
          <ac:chgData name="Bilal Kudaimi" userId="1030cc04129715cd" providerId="LiveId" clId="{6C547E51-91A3-4012-B864-60232FE38047}" dt="2021-10-04T22:46:10.890" v="183" actId="20577"/>
          <ac:spMkLst>
            <pc:docMk/>
            <pc:sldMk cId="2000565913" sldId="266"/>
            <ac:spMk id="5" creationId="{F071B229-59C9-4D1F-8010-6FA06DF04F42}"/>
          </ac:spMkLst>
        </pc:spChg>
        <pc:graphicFrameChg chg="mod">
          <ac:chgData name="Bilal Kudaimi" userId="1030cc04129715cd" providerId="LiveId" clId="{6C547E51-91A3-4012-B864-60232FE38047}" dt="2021-10-05T00:03:08.857" v="931" actId="20577"/>
          <ac:graphicFrameMkLst>
            <pc:docMk/>
            <pc:sldMk cId="2000565913" sldId="266"/>
            <ac:graphicFrameMk id="8" creationId="{114AC469-92B3-403B-BD57-F5484FC272A6}"/>
          </ac:graphicFrameMkLst>
        </pc:graphicFrameChg>
      </pc:sldChg>
      <pc:sldChg chg="addSp delSp modSp mod">
        <pc:chgData name="Bilal Kudaimi" userId="1030cc04129715cd" providerId="LiveId" clId="{6C547E51-91A3-4012-B864-60232FE38047}" dt="2021-10-05T00:03:16.596" v="939" actId="20577"/>
        <pc:sldMkLst>
          <pc:docMk/>
          <pc:sldMk cId="3781698639" sldId="267"/>
        </pc:sldMkLst>
        <pc:spChg chg="mod">
          <ac:chgData name="Bilal Kudaimi" userId="1030cc04129715cd" providerId="LiveId" clId="{6C547E51-91A3-4012-B864-60232FE38047}" dt="2021-10-04T23:01:02.848" v="802" actId="20577"/>
          <ac:spMkLst>
            <pc:docMk/>
            <pc:sldMk cId="3781698639" sldId="267"/>
            <ac:spMk id="3" creationId="{13CB6B46-3331-4823-AEC6-E926C428C6B3}"/>
          </ac:spMkLst>
        </pc:spChg>
        <pc:graphicFrameChg chg="del">
          <ac:chgData name="Bilal Kudaimi" userId="1030cc04129715cd" providerId="LiveId" clId="{6C547E51-91A3-4012-B864-60232FE38047}" dt="2021-10-04T22:44:27.315" v="1" actId="21"/>
          <ac:graphicFrameMkLst>
            <pc:docMk/>
            <pc:sldMk cId="3781698639" sldId="267"/>
            <ac:graphicFrameMk id="4" creationId="{082204DD-A275-4599-85D4-3F83C3A17188}"/>
          </ac:graphicFrameMkLst>
        </pc:graphicFrameChg>
        <pc:graphicFrameChg chg="add mod">
          <ac:chgData name="Bilal Kudaimi" userId="1030cc04129715cd" providerId="LiveId" clId="{6C547E51-91A3-4012-B864-60232FE38047}" dt="2021-10-05T00:03:16.596" v="939" actId="20577"/>
          <ac:graphicFrameMkLst>
            <pc:docMk/>
            <pc:sldMk cId="3781698639" sldId="267"/>
            <ac:graphicFrameMk id="6" creationId="{082204DD-A275-4599-85D4-3F83C3A17188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030cc04129715cd/DSC%20640%20Final%20Project%20Part%202%20Graph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030cc04129715cd/DSC%20640%20Final%20Project%20Part%202%20Graph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030cc04129715cd/DSC%20640%20Final%20Project%20Part%202%20Graph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030cc04129715cd/DSC%20640%20Final%20Project%20Part%202%20Graph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030cc04129715cd/DSC%20640%20Final%20Project%20Part%202%20Graph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030cc04129715cd/DSC%20640%20Final%20Project%20Part%202%20Graph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Airline</a:t>
            </a:r>
            <a:r>
              <a:rPr lang="en-US" baseline="0"/>
              <a:t> Customer Satisfaction (2002-2019)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'[DSC 640 Final Project Part 2 Graphs.xlsx]Customer Satisfaction'!$A$6</c:f>
              <c:strCache>
                <c:ptCount val="1"/>
                <c:pt idx="0">
                  <c:v>Airline Average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numRef>
              <c:f>'[DSC 640 Final Project Part 2 Graphs.xlsx]Customer Satisfaction'!$V$1:$Z$1</c:f>
              <c:numCache>
                <c:formatCode>General</c:formatCod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numCache>
            </c:numRef>
          </c:cat>
          <c:val>
            <c:numRef>
              <c:f>'[DSC 640 Final Project Part 2 Graphs.xlsx]Customer Satisfaction'!$V$6:$Z$6</c:f>
              <c:numCache>
                <c:formatCode>General</c:formatCode>
                <c:ptCount val="5"/>
                <c:pt idx="0">
                  <c:v>69</c:v>
                </c:pt>
                <c:pt idx="1">
                  <c:v>72</c:v>
                </c:pt>
                <c:pt idx="2">
                  <c:v>75</c:v>
                </c:pt>
                <c:pt idx="3">
                  <c:v>73</c:v>
                </c:pt>
                <c:pt idx="4">
                  <c:v>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3E-488D-8C75-C476FDC298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56105576"/>
        <c:axId val="656098360"/>
      </c:barChart>
      <c:catAx>
        <c:axId val="65610557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6098360"/>
        <c:crosses val="autoZero"/>
        <c:auto val="1"/>
        <c:lblAlgn val="ctr"/>
        <c:lblOffset val="100"/>
        <c:noMultiLvlLbl val="0"/>
      </c:catAx>
      <c:valAx>
        <c:axId val="656098360"/>
        <c:scaling>
          <c:orientation val="minMax"/>
          <c:min val="5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Customer</a:t>
                </a:r>
                <a:r>
                  <a:rPr lang="en-US" baseline="0"/>
                  <a:t> Satisfaction Index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6105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passenger</a:t>
            </a:r>
            <a:r>
              <a:rPr lang="en-US" baseline="0"/>
              <a:t> seats that are filled (2002-2019)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'[DSC 640 Final Project Part 2 Graphs.xlsx]Load Factor'!$H$7</c:f>
              <c:strCache>
                <c:ptCount val="1"/>
                <c:pt idx="0">
                  <c:v>Load Factor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'[DSC 640 Final Project Part 2 Graphs.xlsx]Load Factor'!$G$21:$G$25</c:f>
              <c:numCache>
                <c:formatCode>General</c:formatCod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numCache>
            </c:numRef>
          </c:cat>
          <c:val>
            <c:numRef>
              <c:f>'[DSC 640 Final Project Part 2 Graphs.xlsx]Load Factor'!$H$21:$H$25</c:f>
              <c:numCache>
                <c:formatCode>General</c:formatCode>
                <c:ptCount val="5"/>
                <c:pt idx="0">
                  <c:v>82.68</c:v>
                </c:pt>
                <c:pt idx="1">
                  <c:v>82.43</c:v>
                </c:pt>
                <c:pt idx="2">
                  <c:v>82.47</c:v>
                </c:pt>
                <c:pt idx="3">
                  <c:v>82.98</c:v>
                </c:pt>
                <c:pt idx="4">
                  <c:v>83.85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01-4E9F-AA38-BF0E07E278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87971480"/>
        <c:axId val="387966888"/>
      </c:barChart>
      <c:catAx>
        <c:axId val="3879714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7966888"/>
        <c:crosses val="autoZero"/>
        <c:auto val="1"/>
        <c:lblAlgn val="ctr"/>
        <c:lblOffset val="100"/>
        <c:noMultiLvlLbl val="0"/>
      </c:catAx>
      <c:valAx>
        <c:axId val="387966888"/>
        <c:scaling>
          <c:orientation val="minMax"/>
          <c:min val="5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Percent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7971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Annual Revenue (2015-2019)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'[DSC 640 Final Project Part 2 Graphs.xlsx]Revenue'!$A$4</c:f>
              <c:strCache>
                <c:ptCount val="1"/>
                <c:pt idx="0">
                  <c:v>Revenue </c:v>
                </c:pt>
              </c:strCache>
            </c:strRef>
          </c:tx>
          <c:spPr>
            <a:solidFill>
              <a:srgbClr val="0070C0"/>
            </a:solidFill>
            <a:ln>
              <a:solidFill>
                <a:srgbClr val="0070C0"/>
              </a:solidFill>
            </a:ln>
            <a:effectLst/>
          </c:spPr>
          <c:invertIfNegative val="0"/>
          <c:cat>
            <c:strRef>
              <c:f>'[DSC 640 Final Project Part 2 Graphs.xlsx]Revenue'!$Z$1:$AD$1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(R) 2018</c:v>
                </c:pt>
                <c:pt idx="4">
                  <c:v>2019</c:v>
                </c:pt>
              </c:strCache>
            </c:strRef>
          </c:cat>
          <c:val>
            <c:numRef>
              <c:f>'[DSC 640 Final Project Part 2 Graphs.xlsx]Revenue'!$Z$4:$AD$4</c:f>
              <c:numCache>
                <c:formatCode>#,##0.00</c:formatCode>
                <c:ptCount val="5"/>
                <c:pt idx="0">
                  <c:v>205360893</c:v>
                </c:pt>
                <c:pt idx="1">
                  <c:v>209295335</c:v>
                </c:pt>
                <c:pt idx="2">
                  <c:v>222242732</c:v>
                </c:pt>
                <c:pt idx="3">
                  <c:v>239760415</c:v>
                </c:pt>
                <c:pt idx="4">
                  <c:v>247733022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D0-49F6-9EE7-78CD832FFD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56943672"/>
        <c:axId val="656947608"/>
      </c:barChart>
      <c:catAx>
        <c:axId val="6569436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6947608"/>
        <c:crosses val="autoZero"/>
        <c:auto val="1"/>
        <c:lblAlgn val="ctr"/>
        <c:lblOffset val="100"/>
        <c:noMultiLvlLbl val="0"/>
      </c:catAx>
      <c:valAx>
        <c:axId val="656947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Revenue (thosand $)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69436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Percent</a:t>
            </a:r>
            <a:r>
              <a:rPr lang="en-US" baseline="0" dirty="0"/>
              <a:t> of US airline </a:t>
            </a:r>
            <a:r>
              <a:rPr lang="en-US" dirty="0"/>
              <a:t>near-misses</a:t>
            </a:r>
            <a:r>
              <a:rPr lang="en-US" baseline="0" dirty="0"/>
              <a:t> that are accidents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'[DSC 640 Final Project Part 2 Graphs.xlsx]Percent Fatal Accidents'!$A$3</c:f>
              <c:strCache>
                <c:ptCount val="1"/>
                <c:pt idx="0">
                  <c:v>Percents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'[DSC 640 Final Project Part 2 Graphs.xlsx]Percent Fatal Accidents'!$B$1:$F$1</c:f>
              <c:numCache>
                <c:formatCode>General</c:formatCod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numCache>
            </c:numRef>
          </c:cat>
          <c:val>
            <c:numRef>
              <c:f>'[DSC 640 Final Project Part 2 Graphs.xlsx]Percent Fatal Accidents'!$B$3:$F$3</c:f>
              <c:numCache>
                <c:formatCode>General</c:formatCode>
                <c:ptCount val="5"/>
                <c:pt idx="0">
                  <c:v>0.56600000000000006</c:v>
                </c:pt>
                <c:pt idx="1">
                  <c:v>0.34399999999999997</c:v>
                </c:pt>
                <c:pt idx="2">
                  <c:v>0.26200000000000001</c:v>
                </c:pt>
                <c:pt idx="3">
                  <c:v>0.26600000000000001</c:v>
                </c:pt>
                <c:pt idx="4">
                  <c:v>0.19500000000000001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03-4ED2-90B0-ADE98F41EB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22406880"/>
        <c:axId val="409477008"/>
      </c:barChart>
      <c:catAx>
        <c:axId val="3224068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9477008"/>
        <c:crosses val="autoZero"/>
        <c:auto val="1"/>
        <c:lblAlgn val="ctr"/>
        <c:lblOffset val="100"/>
        <c:noMultiLvlLbl val="0"/>
      </c:catAx>
      <c:valAx>
        <c:axId val="409477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Percent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2406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Percent of US airline accidents that are fatal (2010-2019)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'[DSC 640 Final Project Part 2 Graphs.xlsx]Percent Fatal Accidents'!$N$2</c:f>
              <c:strCache>
                <c:ptCount val="1"/>
                <c:pt idx="0">
                  <c:v>Percent of accidents that are fatal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'[DSC 640 Final Project Part 2 Graphs.xlsx]Percent Fatal Accidents'!$D$20:$D$29</c:f>
              <c:numCache>
                <c:formatCode>General</c:formatCode>
                <c:ptCount val="10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</c:numCache>
            </c:numRef>
          </c:cat>
          <c:val>
            <c:numRef>
              <c:f>'[DSC 640 Final Project Part 2 Graphs.xlsx]Percent Fatal Accidents'!$N$20:$N$29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2.9411764705882355</c:v>
                </c:pt>
                <c:pt idx="9">
                  <c:v>2.3255813953488373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7E-4B00-AC15-8A85822DEE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65016024"/>
        <c:axId val="615109936"/>
      </c:lineChart>
      <c:catAx>
        <c:axId val="5650160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5109936"/>
        <c:crosses val="autoZero"/>
        <c:auto val="1"/>
        <c:lblAlgn val="ctr"/>
        <c:lblOffset val="100"/>
        <c:noMultiLvlLbl val="0"/>
      </c:catAx>
      <c:valAx>
        <c:axId val="615109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Percent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50160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US Transportation Fatalities (2019)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'[DSC 640 Final Project Part 2 Graphs.xlsx]Fatality Number'!$B$1</c:f>
              <c:strCache>
                <c:ptCount val="1"/>
                <c:pt idx="0">
                  <c:v>Fatalities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'[DSC 640 Final Project Part 2 Graphs.xlsx]Fatality Number'!$A$2:$A$4</c:f>
              <c:strCache>
                <c:ptCount val="3"/>
                <c:pt idx="0">
                  <c:v>Car</c:v>
                </c:pt>
                <c:pt idx="1">
                  <c:v>Ship</c:v>
                </c:pt>
                <c:pt idx="2">
                  <c:v>Airplane</c:v>
                </c:pt>
              </c:strCache>
            </c:strRef>
          </c:cat>
          <c:val>
            <c:numRef>
              <c:f>'[DSC 640 Final Project Part 2 Graphs.xlsx]Fatality Number'!$B$2:$B$4</c:f>
              <c:numCache>
                <c:formatCode>General</c:formatCode>
                <c:ptCount val="3"/>
                <c:pt idx="0">
                  <c:v>36096</c:v>
                </c:pt>
                <c:pt idx="1">
                  <c:v>613</c:v>
                </c:pt>
                <c:pt idx="2">
                  <c:v>578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B2-4F0E-8A68-1D89E5E443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80789184"/>
        <c:axId val="580791152"/>
      </c:barChart>
      <c:catAx>
        <c:axId val="5807891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Travel Method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0791152"/>
        <c:crosses val="autoZero"/>
        <c:auto val="1"/>
        <c:lblAlgn val="ctr"/>
        <c:lblOffset val="100"/>
        <c:noMultiLvlLbl val="0"/>
      </c:catAx>
      <c:valAx>
        <c:axId val="580791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Fatalities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0789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E053-2F8D-4711-8757-1AE074CE1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B99332-8B7F-4147-9E21-69427FC5A4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77D1A-7C92-475A-A767-1B6B43A5C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5C5C9-164C-46B3-A87E-7660D39D3106}" type="datetime2">
              <a:rPr lang="en-US" smtClean="0"/>
              <a:t>Tuesday, October 5, 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371EA-0D18-414B-BEA3-0F61F3B8B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259FC-1644-4DCE-9844-06E45145C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409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DAAE7-D297-4A98-BF9E-13114BD26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02C50-E0EB-472D-812A-E0D374C3E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13F23-A38D-42EF-A9C2-6C56A475F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FF8A-AAF8-4A12-8A91-9CA0EAF6CBB9}" type="datetime2">
              <a:rPr lang="en-US" smtClean="0"/>
              <a:t>Tuesday, October 5, 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EA657-42EF-47AD-8BC4-86FB41403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CD8FD-BB36-4E9C-B45D-1C2E77E4F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05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39C85-7453-4C51-9C4A-94C9AA6BA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3BB49-7F54-46C3-A3D6-F727CCF76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CBB5A-6E18-4CBE-B848-19A4EE37C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C25C3-021A-4B0B-8F70-0C181FE1CF45}" type="datetime2">
              <a:rPr lang="en-US" smtClean="0"/>
              <a:t>Tuesday, October 5,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30F15-4509-45B1-818D-4C62C96A7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D4431-5B7A-4AC3-823F-753AB22B4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1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09036-C0BA-44B4-B1B8-4D4679319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B385A-D7E4-429A-9420-44487127AA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A609CA-2E87-4610-8A50-E4B2D50C1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E91DD-D37B-4ED6-8C17-A9C9CD349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3D88D-8CEC-4ED9-A53B-5596187D9A16}" type="datetime2">
              <a:rPr lang="en-US" smtClean="0"/>
              <a:t>Tuesday, October 5, 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F96F7-C9AD-466A-AB16-1F1BF9D46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38585-6AA6-46C7-BF60-9DB39BB22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38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35894-0E2C-45F5-8231-E30A641AC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36DA1-F713-4212-BEA9-CD3E1650B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89A1E9-B6DB-4890-992B-88A924887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292B24-586B-4D1F-98FD-70337B8C9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665005-18FF-4A51-B124-F7C82F3D4E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D02DCF-691B-47DB-9981-1E284F66B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D382-DFDA-4722-A27A-59C21AD112F2}" type="datetime2">
              <a:rPr lang="en-US" smtClean="0"/>
              <a:t>Tuesday, October 5, 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A1B3E8-2C53-4106-9F24-0A6906C7F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1C4D79-69B2-446B-BCBA-A841C4056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20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45499-4A3C-463C-B544-D50AD033F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BA7C35-1BAA-497B-B510-ED4F3FC1A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2A30D-1C09-413F-AAB1-38F366000715}" type="datetime2">
              <a:rPr lang="en-US" smtClean="0"/>
              <a:t>Tuesday, October 5, 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2D6C63-F5E3-4A5A-A7C2-3F6443F5F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FA293E-E3F9-427D-83CE-7299C2478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385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BE591F-4905-45C8-B241-DE4E398B9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82B9C-D65E-4F64-95C3-B10F3B00F0D9}" type="datetime2">
              <a:rPr lang="en-US" smtClean="0"/>
              <a:t>Tuesday, October 5, 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BDA29A-7DF3-43C8-9CDE-5FA781C7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5FDC8-4A88-4BAE-81D9-40C150D3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117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F6716-723C-4163-B78A-E7ECFBF3D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B92FE-A057-476D-B09B-7BF4CC00B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8AA93-266D-41DE-86EE-A477938F31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98790-6C46-45BB-8D69-C866CF5E5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FDCC-6AAC-4A08-B9E0-3793AB5E64C3}" type="datetime2">
              <a:rPr lang="en-US" smtClean="0"/>
              <a:t>Tuesday, October 5, 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FF1A5-78F0-4823-826D-CC246A3B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7A81B-CBE0-43C7-A7EF-3F40BE56A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970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89D7E-67E8-4DE0-BCB7-7C8ED789E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CF6120-F616-4CF9-A05A-51330B68D2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0ABE0A-DAD0-49A7-944E-69516C3D4C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C9B0A-940D-4343-A6D2-371AA681F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FE94D-439C-40F1-900E-BC07940E3988}" type="datetime2">
              <a:rPr lang="en-US" smtClean="0"/>
              <a:t>Tuesday, October 5, 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888F2-1489-4EBD-AED6-DF3C610D4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0A6C6-5C5E-446B-AAEA-E6EFF4C2A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489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F5F46-931D-488C-8A24-D0E266523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E0B4B5-1A89-4D74-BDEB-7BD14C01B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F8223-A5B5-4CF2-8A8C-8FFC5CF70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5179A-1E2B-41AB-B400-4F1B4022FAEE}" type="datetime2">
              <a:rPr lang="en-US" smtClean="0"/>
              <a:t>Tuesday, October 5,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E182C-9E33-4CA9-ABE5-5B4CDF73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7404E-1498-49F4-860F-FFE2D637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44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0FA0B3-2B27-43FB-B915-069BE66D7B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A0D50A-67D5-47F0-A0C2-AF39F4334B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7A39E-7C57-4455-8F02-6B8125C5F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1D0F-6595-4F14-8EF3-954CD87C797B}" type="datetime2">
              <a:rPr lang="en-US" smtClean="0"/>
              <a:t>Tuesday, October 5,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9E1D8-EA4E-468F-B120-28E9B8C19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F4145-1C78-4568-BD45-3857FA7C6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520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BFF0DA-A5B0-4A58-80A6-D7BF31619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25A25-82FF-4E51-8039-D7B837535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74CD3-8029-425D-9A12-2612C5100C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A2CF1-0EB2-4673-802D-3371233E4A77}" type="datetime2">
              <a:rPr lang="en-US" smtClean="0"/>
              <a:t>Tuesday, October 5, 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8E361-1D38-489B-898F-04830F3E9F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62160-7AA5-493F-A3E6-69D86ECD61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885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982CE-528F-48F5-8179-3763FD655D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000" y="728663"/>
            <a:ext cx="5015638" cy="2795738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 Safety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and Success Review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66CFD-94B6-4F33-8379-1540A7C16E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3830398"/>
            <a:ext cx="5015638" cy="2298939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Bilal Kudaimi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Star Airlines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October 10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2021</a:t>
            </a:r>
          </a:p>
        </p:txBody>
      </p:sp>
      <p:pic>
        <p:nvPicPr>
          <p:cNvPr id="4" name="Picture 3" descr="Plane on tarmac">
            <a:extLst>
              <a:ext uri="{FF2B5EF4-FFF2-40B4-BE49-F238E27FC236}">
                <a16:creationId xmlns:a16="http://schemas.microsoft.com/office/drawing/2014/main" id="{62E2EF76-DB22-40C4-98F7-B022868833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353" r="27035" b="-1"/>
          <a:stretch/>
        </p:blipFill>
        <p:spPr>
          <a:xfrm>
            <a:off x="5924550" y="10"/>
            <a:ext cx="6267451" cy="6857990"/>
          </a:xfrm>
          <a:custGeom>
            <a:avLst/>
            <a:gdLst/>
            <a:ahLst/>
            <a:cxnLst/>
            <a:rect l="l" t="t" r="r" b="b"/>
            <a:pathLst>
              <a:path w="5903725" h="6858000">
                <a:moveTo>
                  <a:pt x="17547" y="0"/>
                </a:moveTo>
                <a:lnTo>
                  <a:pt x="5903725" y="0"/>
                </a:lnTo>
                <a:lnTo>
                  <a:pt x="5903725" y="6858000"/>
                </a:lnTo>
                <a:lnTo>
                  <a:pt x="57217" y="6858000"/>
                </a:lnTo>
                <a:lnTo>
                  <a:pt x="57185" y="6699667"/>
                </a:lnTo>
                <a:cubicBezTo>
                  <a:pt x="57923" y="6526851"/>
                  <a:pt x="61039" y="6384211"/>
                  <a:pt x="67005" y="6279216"/>
                </a:cubicBezTo>
                <a:cubicBezTo>
                  <a:pt x="108514" y="5194623"/>
                  <a:pt x="-44577" y="788432"/>
                  <a:pt x="13203" y="4200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47335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F43AF-7B2A-442A-B05C-A14A28F3D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Rising Customer Satisfaction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6C53A-538C-425D-B7F0-1210F3AD6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5312"/>
            <a:ext cx="10728325" cy="322737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Customers are happy with flying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17535D-C2FA-4CDE-A7CE-E1FA50678DFF}"/>
              </a:ext>
            </a:extLst>
          </p:cNvPr>
          <p:cNvSpPr txBox="1"/>
          <p:nvPr/>
        </p:nvSpPr>
        <p:spPr>
          <a:xfrm>
            <a:off x="720463" y="6029188"/>
            <a:ext cx="35753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Source: American Customer Satisfaction Index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8F91B6B-9588-4337-8E76-0C61389E09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5296144"/>
              </p:ext>
            </p:extLst>
          </p:nvPr>
        </p:nvGraphicFramePr>
        <p:xfrm>
          <a:off x="838200" y="2424110"/>
          <a:ext cx="10515600" cy="3605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69874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AA8E-83FD-402A-BFDF-6C288C65B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 Travel Demand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79068-959F-4EF3-90F5-EB47A776E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Airline demand has peaked as of the last 5 years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15FDF7-DDC8-4AC5-B539-02034336533E}"/>
              </a:ext>
            </a:extLst>
          </p:cNvPr>
          <p:cNvSpPr txBox="1"/>
          <p:nvPr/>
        </p:nvSpPr>
        <p:spPr>
          <a:xfrm>
            <a:off x="838200" y="602307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Source: US Bureau of Transportation Statistics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08F069F-0994-4E45-9A15-E234FD832B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2567124"/>
              </p:ext>
            </p:extLst>
          </p:nvPr>
        </p:nvGraphicFramePr>
        <p:xfrm>
          <a:off x="838200" y="2574524"/>
          <a:ext cx="10436441" cy="3448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24292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6DEAB-C8CE-4E37-AF17-3FCAC2EF1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Star Airlines: Successful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58A88-D602-4057-9A47-FA2989B31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Revenue is at an all-time high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1CC4EA-0CE0-4770-9E76-FA64720CC6A8}"/>
              </a:ext>
            </a:extLst>
          </p:cNvPr>
          <p:cNvSpPr txBox="1"/>
          <p:nvPr/>
        </p:nvSpPr>
        <p:spPr>
          <a:xfrm>
            <a:off x="466725" y="6296025"/>
            <a:ext cx="3876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US Bureau of Transportation Statistics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9D30AA6-76D6-4CC9-8AFA-5BD2887623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9017644"/>
              </p:ext>
            </p:extLst>
          </p:nvPr>
        </p:nvGraphicFramePr>
        <p:xfrm>
          <a:off x="838199" y="2195061"/>
          <a:ext cx="10515599" cy="39819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40663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EB2EA-A4D7-4173-91AF-7F609235F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0710"/>
            <a:ext cx="10515600" cy="906367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Changing Media Opinion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6BFB1-1A5E-4370-98F4-555536842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934" y="1485932"/>
            <a:ext cx="4757503" cy="2325949"/>
          </a:xfrm>
        </p:spPr>
        <p:txBody>
          <a:bodyPr>
            <a:normAutofit lnSpcReduction="10000"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Despite high consumer satisfaction and revenue, current media is reporting negatively about us due to a few unfortunate crashes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See #2 on right chart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Star Airlines stands to lose a lot if chart is allowed to continue past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23B2D3-8866-4CC5-B8A2-AE8E40D3BE62}"/>
              </a:ext>
            </a:extLst>
          </p:cNvPr>
          <p:cNvSpPr/>
          <p:nvPr/>
        </p:nvSpPr>
        <p:spPr>
          <a:xfrm>
            <a:off x="5214154" y="1422024"/>
            <a:ext cx="2574525" cy="2325949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  <a:p>
            <a:pPr algn="ctr"/>
            <a:r>
              <a:rPr lang="en-US" dirty="0"/>
              <a:t>A few unfortunate recent accidents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BC024B-A7F4-4DE0-B267-1C8675DA6443}"/>
              </a:ext>
            </a:extLst>
          </p:cNvPr>
          <p:cNvSpPr txBox="1"/>
          <p:nvPr/>
        </p:nvSpPr>
        <p:spPr>
          <a:xfrm>
            <a:off x="8010621" y="2395385"/>
            <a:ext cx="443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8EA3DE-FD4F-4B8C-AD94-31A3B0B429B7}"/>
              </a:ext>
            </a:extLst>
          </p:cNvPr>
          <p:cNvSpPr/>
          <p:nvPr/>
        </p:nvSpPr>
        <p:spPr>
          <a:xfrm>
            <a:off x="8597287" y="1417077"/>
            <a:ext cx="2574525" cy="2325949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  <a:p>
            <a:pPr algn="ctr"/>
            <a:r>
              <a:rPr lang="en-US" dirty="0"/>
              <a:t>Negative press regarding our safety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5E7E30-915E-4C53-9D0C-D6198A77806F}"/>
              </a:ext>
            </a:extLst>
          </p:cNvPr>
          <p:cNvSpPr txBox="1"/>
          <p:nvPr/>
        </p:nvSpPr>
        <p:spPr>
          <a:xfrm rot="8051521">
            <a:off x="7996273" y="3846451"/>
            <a:ext cx="443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57268F2-D750-44CF-8757-A4ED0F934BE9}"/>
              </a:ext>
            </a:extLst>
          </p:cNvPr>
          <p:cNvSpPr/>
          <p:nvPr/>
        </p:nvSpPr>
        <p:spPr>
          <a:xfrm>
            <a:off x="5214153" y="4278730"/>
            <a:ext cx="2574525" cy="2325949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  <a:p>
            <a:pPr algn="ctr"/>
            <a:r>
              <a:rPr lang="en-US" dirty="0"/>
              <a:t>Changing public opinion/scrutiny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239543-7B3D-404C-BB39-7D4B28FD01C1}"/>
              </a:ext>
            </a:extLst>
          </p:cNvPr>
          <p:cNvSpPr txBox="1"/>
          <p:nvPr/>
        </p:nvSpPr>
        <p:spPr>
          <a:xfrm>
            <a:off x="8010620" y="5257038"/>
            <a:ext cx="443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4F63C9A-A752-41A2-85AA-39D8B9A014F0}"/>
              </a:ext>
            </a:extLst>
          </p:cNvPr>
          <p:cNvSpPr/>
          <p:nvPr/>
        </p:nvSpPr>
        <p:spPr>
          <a:xfrm>
            <a:off x="8597287" y="4278730"/>
            <a:ext cx="2574525" cy="2325949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  <a:p>
            <a:pPr algn="ctr"/>
            <a:r>
              <a:rPr lang="en-US" dirty="0"/>
              <a:t>Negatively impacted sales</a:t>
            </a:r>
          </a:p>
        </p:txBody>
      </p:sp>
      <p:pic>
        <p:nvPicPr>
          <p:cNvPr id="14" name="Content Placeholder 4" descr="Downward trend graph with solid fill">
            <a:extLst>
              <a:ext uri="{FF2B5EF4-FFF2-40B4-BE49-F238E27FC236}">
                <a16:creationId xmlns:a16="http://schemas.microsoft.com/office/drawing/2014/main" id="{310FFB35-E2B4-4099-B484-C4A60CFC0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7349" y="4278730"/>
            <a:ext cx="852256" cy="852256"/>
          </a:xfrm>
          <a:prstGeom prst="rect">
            <a:avLst/>
          </a:prstGeom>
        </p:spPr>
      </p:pic>
      <p:pic>
        <p:nvPicPr>
          <p:cNvPr id="15" name="Content Placeholder 8" descr="Comment Fire outline">
            <a:extLst>
              <a:ext uri="{FF2B5EF4-FFF2-40B4-BE49-F238E27FC236}">
                <a16:creationId xmlns:a16="http://schemas.microsoft.com/office/drawing/2014/main" id="{B50E42CF-FC1F-48B5-8C39-79712B8377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27349" y="1417077"/>
            <a:ext cx="914400" cy="914400"/>
          </a:xfrm>
          <a:prstGeom prst="rect">
            <a:avLst/>
          </a:prstGeom>
        </p:spPr>
      </p:pic>
      <p:pic>
        <p:nvPicPr>
          <p:cNvPr id="16" name="Content Placeholder 12" descr="Landing with solid fill">
            <a:extLst>
              <a:ext uri="{FF2B5EF4-FFF2-40B4-BE49-F238E27FC236}">
                <a16:creationId xmlns:a16="http://schemas.microsoft.com/office/drawing/2014/main" id="{97C4A5DD-3A5E-49E4-81E4-70323F0C15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44215" y="1417077"/>
            <a:ext cx="914400" cy="914400"/>
          </a:xfrm>
          <a:prstGeom prst="rect">
            <a:avLst/>
          </a:prstGeom>
        </p:spPr>
      </p:pic>
      <p:pic>
        <p:nvPicPr>
          <p:cNvPr id="17" name="Content Placeholder 16" descr="Aperture with solid fill">
            <a:extLst>
              <a:ext uri="{FF2B5EF4-FFF2-40B4-BE49-F238E27FC236}">
                <a16:creationId xmlns:a16="http://schemas.microsoft.com/office/drawing/2014/main" id="{E91B6FC2-F870-4C72-BE64-AF2000FFC6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44215" y="421482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783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6C69-DC37-45BA-B218-A03304C72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does the data say about safety?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71B229-59C9-4D1F-8010-6FA06DF04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Accident percent is lowest ever (0.2% of flights as of 2017)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14AC469-92B3-403B-BD57-F5484FC272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7626398"/>
              </p:ext>
            </p:extLst>
          </p:nvPr>
        </p:nvGraphicFramePr>
        <p:xfrm>
          <a:off x="561975" y="2314574"/>
          <a:ext cx="11296650" cy="39973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D3AA7F0-51D2-4E98-9E2D-9A6C656073BF}"/>
              </a:ext>
            </a:extLst>
          </p:cNvPr>
          <p:cNvSpPr txBox="1"/>
          <p:nvPr/>
        </p:nvSpPr>
        <p:spPr>
          <a:xfrm>
            <a:off x="838200" y="6311900"/>
            <a:ext cx="3876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US Federal Aviation Administration</a:t>
            </a:r>
          </a:p>
        </p:txBody>
      </p:sp>
    </p:spTree>
    <p:extLst>
      <p:ext uri="{BB962C8B-B14F-4D97-AF65-F5344CB8AC3E}">
        <p14:creationId xmlns:p14="http://schemas.microsoft.com/office/powerpoint/2010/main" val="2000565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3368-05F9-4263-8121-E3A6712A8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does the data say about safety?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B6B46-3331-4823-AEC6-E926C428C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631750" cy="44862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There were almost no fatal accidents in the last decade</a:t>
            </a:r>
          </a:p>
          <a:p>
            <a:pPr lvl="1"/>
            <a:r>
              <a:rPr lang="en-US" dirty="0"/>
              <a:t>2018-2019 reflects the recent unfortunate accidents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965C65-0008-4053-A8BE-6538D98F24C1}"/>
              </a:ext>
            </a:extLst>
          </p:cNvPr>
          <p:cNvSpPr txBox="1"/>
          <p:nvPr/>
        </p:nvSpPr>
        <p:spPr>
          <a:xfrm>
            <a:off x="1041646" y="6185098"/>
            <a:ext cx="3876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US National Safety Council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2204DD-A275-4599-85D4-3F83C3A171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2174259"/>
              </p:ext>
            </p:extLst>
          </p:nvPr>
        </p:nvGraphicFramePr>
        <p:xfrm>
          <a:off x="693982" y="2424112"/>
          <a:ext cx="10515600" cy="37528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81698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38BA1-E536-4D9E-A9A6-4A057258B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does the data say about safety?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74BA2-ACDA-45CD-A3F2-670A9AA87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475128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Air travel in general is the safer travel option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 negative PR has no basis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2DAD8CA-5C86-4798-AEAA-5DD2AB676F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3678945"/>
              </p:ext>
            </p:extLst>
          </p:nvPr>
        </p:nvGraphicFramePr>
        <p:xfrm>
          <a:off x="838200" y="2787650"/>
          <a:ext cx="6192915" cy="3705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31CF21D-8767-4550-9032-178D661B00D9}"/>
              </a:ext>
            </a:extLst>
          </p:cNvPr>
          <p:cNvSpPr txBox="1"/>
          <p:nvPr/>
        </p:nvSpPr>
        <p:spPr>
          <a:xfrm>
            <a:off x="838200" y="6338986"/>
            <a:ext cx="55803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US NHTSA, US Coast Guard, Bureau of Aircraft Accidents Archives</a:t>
            </a:r>
          </a:p>
        </p:txBody>
      </p:sp>
    </p:spTree>
    <p:extLst>
      <p:ext uri="{BB962C8B-B14F-4D97-AF65-F5344CB8AC3E}">
        <p14:creationId xmlns:p14="http://schemas.microsoft.com/office/powerpoint/2010/main" val="2159290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50F61F-A3B7-470C-BEC7-EA7451BBF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124" y="1967265"/>
            <a:ext cx="3090539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So then, what 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is the solution?</a:t>
            </a:r>
          </a:p>
        </p:txBody>
      </p:sp>
      <p:pic>
        <p:nvPicPr>
          <p:cNvPr id="5" name="Content Placeholder 4" descr="Lights On with solid fill">
            <a:extLst>
              <a:ext uri="{FF2B5EF4-FFF2-40B4-BE49-F238E27FC236}">
                <a16:creationId xmlns:a16="http://schemas.microsoft.com/office/drawing/2014/main" id="{A045C3A9-B01C-4048-9D6E-A01B509AA5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3296" y="643466"/>
            <a:ext cx="5568739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641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3E25F-A67E-4253-BE34-714FE3324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 Campaign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AEBC0CD8-225C-41A8-99A5-40738E900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Star Airlines needs to combat fears with facts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0704593-91F9-4ECB-B884-94409D8C2044}"/>
              </a:ext>
            </a:extLst>
          </p:cNvPr>
          <p:cNvSpPr/>
          <p:nvPr/>
        </p:nvSpPr>
        <p:spPr>
          <a:xfrm>
            <a:off x="604955" y="2802168"/>
            <a:ext cx="3306192" cy="32248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  <a:p>
            <a:pPr algn="ctr"/>
            <a:r>
              <a:rPr lang="en-US" dirty="0"/>
              <a:t>Social media outreach to share Star Airlines</a:t>
            </a:r>
            <a:r>
              <a:rPr lang="en-US"/>
              <a:t>’ findings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76E61-A90D-4473-8F81-234A19A99914}"/>
              </a:ext>
            </a:extLst>
          </p:cNvPr>
          <p:cNvSpPr txBox="1"/>
          <p:nvPr/>
        </p:nvSpPr>
        <p:spPr>
          <a:xfrm>
            <a:off x="3964801" y="4045683"/>
            <a:ext cx="458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2E61A2-8B2F-4B46-9EC0-C3AFD2D95840}"/>
              </a:ext>
            </a:extLst>
          </p:cNvPr>
          <p:cNvSpPr/>
          <p:nvPr/>
        </p:nvSpPr>
        <p:spPr>
          <a:xfrm>
            <a:off x="4423465" y="2802168"/>
            <a:ext cx="3306192" cy="32248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  <a:p>
            <a:pPr algn="ctr"/>
            <a:r>
              <a:rPr lang="en-US" dirty="0"/>
              <a:t>Infographic to consumers about what makes flying safe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098FF5-CC84-489B-89F5-5A779B0F98F5}"/>
              </a:ext>
            </a:extLst>
          </p:cNvPr>
          <p:cNvSpPr txBox="1"/>
          <p:nvPr/>
        </p:nvSpPr>
        <p:spPr>
          <a:xfrm>
            <a:off x="7783311" y="4045683"/>
            <a:ext cx="458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E4447E0-3094-4E83-811C-704D1444D9C2}"/>
              </a:ext>
            </a:extLst>
          </p:cNvPr>
          <p:cNvSpPr/>
          <p:nvPr/>
        </p:nvSpPr>
        <p:spPr>
          <a:xfrm>
            <a:off x="8241974" y="2788308"/>
            <a:ext cx="3306192" cy="32396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  <a:p>
            <a:pPr algn="ctr"/>
            <a:r>
              <a:rPr lang="en-US" dirty="0"/>
              <a:t>Outreach video to further inform the public of our data</a:t>
            </a:r>
          </a:p>
        </p:txBody>
      </p:sp>
      <p:pic>
        <p:nvPicPr>
          <p:cNvPr id="9" name="Content Placeholder 4" descr="Handshake with solid fill">
            <a:extLst>
              <a:ext uri="{FF2B5EF4-FFF2-40B4-BE49-F238E27FC236}">
                <a16:creationId xmlns:a16="http://schemas.microsoft.com/office/drawing/2014/main" id="{3CA9FBE6-60F4-4B09-95B9-517EFED12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0288" y="2802168"/>
            <a:ext cx="975909" cy="975909"/>
          </a:xfrm>
          <a:prstGeom prst="rect">
            <a:avLst/>
          </a:prstGeom>
        </p:spPr>
      </p:pic>
      <p:pic>
        <p:nvPicPr>
          <p:cNvPr id="10" name="Content Placeholder 8" descr="Pie chart with solid fill">
            <a:extLst>
              <a:ext uri="{FF2B5EF4-FFF2-40B4-BE49-F238E27FC236}">
                <a16:creationId xmlns:a16="http://schemas.microsoft.com/office/drawing/2014/main" id="{0C09890D-25D6-48A9-B049-9BEDA58E53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798" y="2788308"/>
            <a:ext cx="975909" cy="975909"/>
          </a:xfrm>
          <a:prstGeom prst="rect">
            <a:avLst/>
          </a:prstGeom>
        </p:spPr>
      </p:pic>
      <p:pic>
        <p:nvPicPr>
          <p:cNvPr id="11" name="Content Placeholder 12" descr="Video camera with solid fill">
            <a:extLst>
              <a:ext uri="{FF2B5EF4-FFF2-40B4-BE49-F238E27FC236}">
                <a16:creationId xmlns:a16="http://schemas.microsoft.com/office/drawing/2014/main" id="{A81357B3-27D9-4FA2-9A41-3ADCA7CF7C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57308" y="2788308"/>
            <a:ext cx="975909" cy="97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109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F154-AA7C-4BB8-8878-7A489602D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0268" y="2766218"/>
            <a:ext cx="2871464" cy="1325563"/>
          </a:xfrm>
        </p:spPr>
        <p:txBody>
          <a:bodyPr>
            <a:noAutofit/>
          </a:bodyPr>
          <a:lstStyle/>
          <a:p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443769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1065</TotalTime>
  <Words>348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A Safety and Success Review</vt:lpstr>
      <vt:lpstr>Rising Customer Satisfaction</vt:lpstr>
      <vt:lpstr>High Travel Demand</vt:lpstr>
      <vt:lpstr>Star Airlines: Successful</vt:lpstr>
      <vt:lpstr>Changing Media Opinion</vt:lpstr>
      <vt:lpstr>What does the data say about safety?</vt:lpstr>
      <vt:lpstr>What does the data say about safety?</vt:lpstr>
      <vt:lpstr>What does the data say about safety?</vt:lpstr>
      <vt:lpstr>So then, what is the solution?</vt:lpstr>
      <vt:lpstr>PR Campaign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Bilal Kudaimi</dc:creator>
  <cp:lastModifiedBy>Bilal Kudaimi</cp:lastModifiedBy>
  <cp:revision>219</cp:revision>
  <dcterms:created xsi:type="dcterms:W3CDTF">2021-09-29T20:56:42Z</dcterms:created>
  <dcterms:modified xsi:type="dcterms:W3CDTF">2021-10-05T19:40:31Z</dcterms:modified>
</cp:coreProperties>
</file>